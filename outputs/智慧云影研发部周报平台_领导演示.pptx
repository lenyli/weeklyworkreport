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48af741be4924" /><Relationship Type="http://schemas.openxmlformats.org/officeDocument/2006/relationships/extended-properties" Target="/docProps/app.xml" Id="R97e1c68ead344a1d" /><Relationship Type="http://schemas.openxmlformats.org/officeDocument/2006/relationships/officeDocument" Target="/ppt/presentation.xml" Id="R5a9724afd8f94790" /><Relationship Type="http://schemas.openxmlformats.org/officeDocument/2006/relationships/custom-properties" Target="/docProps/custom.xml" Id="R270cb6ceee3b4399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>
  <p:sldMasterIdLst>
    <p:sldMasterId xmlns:r="http://schemas.openxmlformats.org/officeDocument/2006/relationships" id="2147483648" r:id="R770c22773e5f487b"/>
  </p:sldMasterIdLst>
  <p:notesMasterIdLst>
    <p:notesMasterId xmlns:r="http://schemas.openxmlformats.org/officeDocument/2006/relationships" r:id="R2b3be16373e34e2b"/>
  </p:notesMasterIdLst>
  <p:sldIdLst>
    <p:sldId xmlns:r="http://schemas.openxmlformats.org/officeDocument/2006/relationships" id="256" r:id="R0ce4ab2dd1994739"/>
    <p:sldId xmlns:r="http://schemas.openxmlformats.org/officeDocument/2006/relationships" id="257" r:id="R2c8339d8b1f4420a"/>
    <p:sldId xmlns:r="http://schemas.openxmlformats.org/officeDocument/2006/relationships" id="258" r:id="R5733de063bdb42e8"/>
    <p:sldId xmlns:r="http://schemas.openxmlformats.org/officeDocument/2006/relationships" id="259" r:id="R411702c9e2af41d4"/>
    <p:sldId xmlns:r="http://schemas.openxmlformats.org/officeDocument/2006/relationships" id="260" r:id="R58fd107486134a87"/>
    <p:sldId xmlns:r="http://schemas.openxmlformats.org/officeDocument/2006/relationships" id="261" r:id="R0768a62f606a4b3f"/>
    <p:sldId xmlns:r="http://schemas.openxmlformats.org/officeDocument/2006/relationships" id="262" r:id="R5f4a4885997b4d8e"/>
    <p:sldId xmlns:r="http://schemas.openxmlformats.org/officeDocument/2006/relationships" id="263" r:id="Rb99febad5f3441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a3e4f9d9b49a6" /><Relationship Type="http://schemas.openxmlformats.org/officeDocument/2006/relationships/slideMaster" Target="/ppt/slideMasters/slideMaster1.xml" Id="R770c22773e5f487b" /><Relationship Type="http://schemas.openxmlformats.org/officeDocument/2006/relationships/notesMaster" Target="/ppt/notesMasters/notesMaster1.xml" Id="R2b3be16373e34e2b" /><Relationship Type="http://schemas.openxmlformats.org/officeDocument/2006/relationships/presProps" Target="/ppt/presProps.xml" Id="Rb56a658d25e246ad" /><Relationship Type="http://schemas.openxmlformats.org/officeDocument/2006/relationships/tableStyles" Target="/ppt/tableStyles.xml" Id="R2afc13aebe5c4d0a" /><Relationship Type="http://schemas.openxmlformats.org/officeDocument/2006/relationships/slide" Target="/ppt/slides/slide1.xml" Id="R0ce4ab2dd1994739" /><Relationship Type="http://schemas.openxmlformats.org/officeDocument/2006/relationships/slide" Target="/ppt/slides/slide2.xml" Id="R2c8339d8b1f4420a" /><Relationship Type="http://schemas.openxmlformats.org/officeDocument/2006/relationships/slide" Target="/ppt/slides/slide3.xml" Id="R5733de063bdb42e8" /><Relationship Type="http://schemas.openxmlformats.org/officeDocument/2006/relationships/slide" Target="/ppt/slides/slide4.xml" Id="R411702c9e2af41d4" /><Relationship Type="http://schemas.openxmlformats.org/officeDocument/2006/relationships/slide" Target="/ppt/slides/slide5.xml" Id="R58fd107486134a87" /><Relationship Type="http://schemas.openxmlformats.org/officeDocument/2006/relationships/slide" Target="/ppt/slides/slide6.xml" Id="R0768a62f606a4b3f" /><Relationship Type="http://schemas.openxmlformats.org/officeDocument/2006/relationships/slide" Target="/ppt/slides/slide7.xml" Id="R5f4a4885997b4d8e" /><Relationship Type="http://schemas.openxmlformats.org/officeDocument/2006/relationships/slide" Target="/ppt/slides/slide8.xml" Id="Rb99febad5f34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bc7a7bd74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d42c18acc46e2" /><Relationship Type="http://schemas.openxmlformats.org/officeDocument/2006/relationships/notesMaster" Target="/ppt/notesMasters/notesMaster1.xml" Id="R3f45eda0ec96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3b93feb1e41d9" /><Relationship Type="http://schemas.openxmlformats.org/officeDocument/2006/relationships/notesMaster" Target="/ppt/notesMasters/notesMaster1.xml" Id="R133e65bfcb0a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8e1ab681c4d46" /><Relationship Type="http://schemas.openxmlformats.org/officeDocument/2006/relationships/notesMaster" Target="/ppt/notesMasters/notesMaster1.xml" Id="R2e00743eb62e46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c710dc74c542b5" /><Relationship Type="http://schemas.openxmlformats.org/officeDocument/2006/relationships/notesMaster" Target="/ppt/notesMasters/notesMaster1.xml" Id="R9a87bdf3a53f44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cd16c2428349b2" /><Relationship Type="http://schemas.openxmlformats.org/officeDocument/2006/relationships/notesMaster" Target="/ppt/notesMasters/notesMaster1.xml" Id="R4922f4796315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338a4069b47e6" /><Relationship Type="http://schemas.openxmlformats.org/officeDocument/2006/relationships/notesMaster" Target="/ppt/notesMasters/notesMaster1.xml" Id="Rd4e62de26c6e42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c8c9f050314a48" /><Relationship Type="http://schemas.openxmlformats.org/officeDocument/2006/relationships/notesMaster" Target="/ppt/notesMasters/notesMaster1.xml" Id="Rc55bf6011b0c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311fc613f48e6" /><Relationship Type="http://schemas.openxmlformats.org/officeDocument/2006/relationships/notesMaster" Target="/ppt/notesMasters/notesMaster1.xml" Id="Ra493a830af88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dcd95f86149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0bd8913f0485c" /><Relationship Type="http://schemas.openxmlformats.org/officeDocument/2006/relationships/slideLayout" Target="/ppt/slideLayouts/slideLayout1.xml" Id="Ra46defbe19b74a5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defbe19b74a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5ce42a7f846f5" /><Relationship Type="http://schemas.openxmlformats.org/officeDocument/2006/relationships/notesSlide" Target="/ppt/notesSlides/notesSlide1.xml" Id="Rdafa4f9a206e42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c0db341d8477a" /><Relationship Type="http://schemas.openxmlformats.org/officeDocument/2006/relationships/notesSlide" Target="/ppt/notesSlides/notesSlide2.xml" Id="R388ba59949ec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a40a19294d26" /><Relationship Type="http://schemas.openxmlformats.org/officeDocument/2006/relationships/notesSlide" Target="/ppt/notesSlides/notesSlide3.xml" Id="R1bbb9e56e3d2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adc16865d437e" /><Relationship Type="http://schemas.openxmlformats.org/officeDocument/2006/relationships/image" Target="/ppt/media/image.jpeg" Id="R9143c882d82447f3" /><Relationship Type="http://schemas.openxmlformats.org/officeDocument/2006/relationships/notesSlide" Target="/ppt/notesSlides/notesSlide4.xml" Id="R3b855b94578349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a16c138b24844" /><Relationship Type="http://schemas.openxmlformats.org/officeDocument/2006/relationships/image" Target="/ppt/media/image2.jpeg" Id="R0de3332bee5846f7" /><Relationship Type="http://schemas.openxmlformats.org/officeDocument/2006/relationships/notesSlide" Target="/ppt/notesSlides/notesSlide5.xml" Id="Rc12edb74ab084f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1ba9182f4cd8" /><Relationship Type="http://schemas.openxmlformats.org/officeDocument/2006/relationships/notesSlide" Target="/ppt/notesSlides/notesSlide6.xml" Id="Rcda63a616734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4a49b50ac4b00" /><Relationship Type="http://schemas.openxmlformats.org/officeDocument/2006/relationships/notesSlide" Target="/ppt/notesSlides/notesSlide7.xml" Id="R542f0b9fa0d142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073492e464c6c" /><Relationship Type="http://schemas.openxmlformats.org/officeDocument/2006/relationships/notesSlide" Target="/ppt/notesSlides/notesSlide8.xml" Id="R8d6d8288df7b4d4c" /></Relationships>
</file>

<file path=ppt/slides/slide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02546DB-D4F3-41D4-BF37-8B4F66D3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智慧云影研发部｜工作周报平台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991C64AF-0994-4F41-BF55-4D53E4C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8385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领导演示版 · 2026.07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2E5E8D9-7FC5-4355-A476-08F2446A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79455C-8B07-4F23-8E89-0729F009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00012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把周报收集
变成可追踪的闭环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2ED44D-A4DC-42B3-9F21-CFA0840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核心流程演示与云端试点建议</a:t>
            </a:r>
          </a:p>
        </p:txBody>
      </p:sp>
    </p:spTree>
    <p:extLst>
      <p:ext uri="{BB962C8B-B14F-4D97-AF65-F5344CB8AC3E}">
        <p14:creationId xmlns:p14="http://schemas.microsoft.com/office/powerpoint/2010/main" val="1932738074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634D79-4962-4904-BB7A-3048FC1E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演示版已跑通核心闭环，下一步是验证云端协同</a:t>
            </a:r>
          </a:p>
        </p:txBody>
      </p:sp>
      <p:sp>
        <p:nvSpPr>
          <p:cNvPr id="2" name="conclusion">
            <a:extLst xmlns:a="http://schemas.openxmlformats.org/drawingml/2006/main">
              <a:ext uri="{FF2B5EF4-FFF2-40B4-BE49-F238E27FC236}">
                <a16:creationId xmlns:a16="http://schemas.microsoft.com/office/drawing/2014/main" id="{F1FA2F43-D368-453B-82A4-2FBABE2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演示版已验证产品流程可用；正式推广前，需把本地数据层升级为共享云端服务，并在小范围内验证稳定性与管理收益。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C28B5A8-0E15-471C-9413-E4A2E395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2F205510-583C-4B43-B597-8A2453A4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3571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51BD6A20-08C3-46D5-8A1E-2022202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3571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9656F8F4-922A-4113-ADF2-ACBBC9F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0037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个闭环</a:t>
            </a:r>
          </a:p>
        </p:txBody>
      </p:sp>
      <p:sp>
        <p:nvSpPr>
          <p:cNvPr id="7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39C06FE3-53DA-4984-AD39-496E0F4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00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填写、提交、追踪、导出
已端到端跑通</a:t>
            </a:r>
          </a:p>
        </p:txBody>
      </p:sp>
      <p:sp>
        <p:nvSpPr>
          <p:cNvPr id="8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E3F4FF30-8FE1-4B39-A2F3-2B6FFAE5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571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F2C054F5-49AF-491C-AD20-92F5C6D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571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365BD7FE-B151-4231-BE4C-51C18FB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300037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类角色</a:t>
            </a:r>
          </a:p>
        </p:txBody>
      </p:sp>
      <p:sp>
        <p:nvSpPr>
          <p:cNvPr id="11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71D30C51-5637-400F-BBE4-901542F6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05350"/>
            <a:ext cx="3000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成员与负责人分工明确
操作路径相互衔接</a:t>
            </a:r>
          </a:p>
        </p:txBody>
      </p:sp>
      <p:sp>
        <p:nvSpPr>
          <p:cNvPr id="12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5041DFA8-1708-4489-89AB-1CD4848D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571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CFE2DA28-BF35-4B40-8544-E8D4EC4A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571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4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B4D8B8C5-2CC5-4D91-A938-4A59F699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300037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项能力</a:t>
            </a:r>
          </a:p>
        </p:txBody>
      </p:sp>
      <p:sp>
        <p:nvSpPr>
          <p:cNvPr id="15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5A29EC99-C61A-48D2-A016-9F4B3019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3000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草稿、覆盖提交、状态看板
与 Excel 汇总已具备</a:t>
            </a:r>
          </a:p>
        </p:txBody>
      </p:sp>
    </p:spTree>
    <p:extLst>
      <p:ext uri="{BB962C8B-B14F-4D97-AF65-F5344CB8AC3E}">
        <p14:creationId xmlns:p14="http://schemas.microsoft.com/office/powerpoint/2010/main" val="1791860626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8951FD-EE2A-4999-8CE2-6127BB92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一次周报从填写到汇总，只需经过三步</a:t>
            </a:r>
          </a:p>
        </p:txBody>
      </p:sp>
      <p:cxnSp>
        <p:nvCxnSpPr>
          <p:cNvPr id="17" name="process-line"/>
          <p:cNvCxnSpPr/>
          <p:nvPr/>
        </p:nvCxnSpPr>
        <p:spPr>
          <a:xfrm xmlns:a="http://schemas.openxmlformats.org/drawingml/2006/main">
            <a:off x="400050" y="3209925"/>
            <a:ext cx="10744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5E14ACC1-04CD-4B9C-BC7C-D66B659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4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89F0572-8E65-4986-9810-79D308C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 成员端</a:t>
            </a:r>
          </a:p>
        </p:txBody>
      </p:sp>
      <p:sp>
        <p:nvSpPr>
          <p:cNvPr id="5" name="step-dot-1">
            <a:extLst xmlns:a="http://schemas.openxmlformats.org/drawingml/2006/main">
              <a:ext uri="{FF2B5EF4-FFF2-40B4-BE49-F238E27FC236}">
                <a16:creationId xmlns:a16="http://schemas.microsoft.com/office/drawing/2014/main" id="{98B2FB0E-A3FB-490D-866D-F28B828B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5EDCE76-D527-47BF-9436-3E8ADF1F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按周填写并提交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DD21419-4CD4-43F4-BB79-6EC760F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自动生成周一至周五
草稿实时保存在本机
同周重复提交自动覆盖</a:t>
            </a:r>
          </a:p>
        </p:txBody>
      </p:sp>
      <p:sp>
        <p:nvSpPr>
          <p:cNvPr id="8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B92FFEF-3B0E-4222-881B-13054BE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479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负责人端</a:t>
            </a:r>
          </a:p>
        </p:txBody>
      </p:sp>
      <p:sp>
        <p:nvSpPr>
          <p:cNvPr id="9" name="step-dot-2">
            <a:extLst xmlns:a="http://schemas.openxmlformats.org/drawingml/2006/main">
              <a:ext uri="{FF2B5EF4-FFF2-40B4-BE49-F238E27FC236}">
                <a16:creationId xmlns:a16="http://schemas.microsoft.com/office/drawing/2014/main" id="{876B8A46-6ABA-477D-B322-3FF62B4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6F675B3-6E36-4DB2-A222-54E0DF4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957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查看名单与状态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0921A69-F105-4683-9C8B-14968612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识别已提交 / 未提交成员
保留历史周报
兼容旧版 Excel 补录</a:t>
            </a:r>
          </a:p>
        </p:txBody>
      </p:sp>
      <p:sp>
        <p:nvSpPr>
          <p:cNvPr id="12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DE3EF19-74BD-4ECC-A172-057C235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标准输出</a:t>
            </a:r>
          </a:p>
        </p:txBody>
      </p:sp>
      <p:sp>
        <p:nvSpPr>
          <p:cNvPr id="13" name="step-dot-3">
            <a:extLst xmlns:a="http://schemas.openxmlformats.org/drawingml/2006/main">
              <a:ext uri="{FF2B5EF4-FFF2-40B4-BE49-F238E27FC236}">
                <a16:creationId xmlns:a16="http://schemas.microsoft.com/office/drawing/2014/main" id="{9A24C6EC-AA78-4232-B8A8-A9B5BCE5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B352EDEA-66AF-4BDB-B0E4-B76DD0F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一键导出汇总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B228640-267A-4722-9BEB-69C35DE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每人一个 sheet
按姓名首字母排序
形成统一归档文件</a:t>
            </a:r>
          </a:p>
        </p:txBody>
      </p:sp>
    </p:spTree>
    <p:extLst>
      <p:ext uri="{BB962C8B-B14F-4D97-AF65-F5344CB8AC3E}">
        <p14:creationId xmlns:p14="http://schemas.microsoft.com/office/powerpoint/2010/main" val="1580713102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5CA11E-1B92-41FE-8E75-0500916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成员填报：统一口径、自动留痕，减少重复整理</a:t>
            </a:r>
          </a:p>
        </p:txBody>
      </p:sp>
      <p:sp>
        <p:nvSpPr>
          <p:cNvPr id="2" name="member-lead">
            <a:extLst xmlns:a="http://schemas.openxmlformats.org/drawingml/2006/main">
              <a:ext uri="{FF2B5EF4-FFF2-40B4-BE49-F238E27FC236}">
                <a16:creationId xmlns:a16="http://schemas.microsoft.com/office/drawing/2014/main" id="{C37B41F1-1EAC-47F1-AF7B-004175D0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3714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成员打开页面即可按周填写，输入内容自动保存为草稿。</a:t>
            </a:r>
          </a:p>
        </p:txBody>
      </p:sp>
      <p:sp>
        <p:nvSpPr>
          <p:cNvPr id="3" name="member-categories">
            <a:extLst xmlns:a="http://schemas.openxmlformats.org/drawingml/2006/main">
              <a:ext uri="{FF2B5EF4-FFF2-40B4-BE49-F238E27FC236}">
                <a16:creationId xmlns:a16="http://schemas.microsoft.com/office/drawing/2014/main" id="{82C161D8-A6CA-40A7-BE6D-95D86DDE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714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四类工作统一呈现
开发 / 测试 / 需求
场地支持
售前支持
其他事项</a:t>
            </a:r>
          </a:p>
        </p:txBody>
      </p:sp>
      <p:sp>
        <p:nvSpPr>
          <p:cNvPr id="4" name="member-callout">
            <a:extLst xmlns:a="http://schemas.openxmlformats.org/drawingml/2006/main">
              <a:ext uri="{FF2B5EF4-FFF2-40B4-BE49-F238E27FC236}">
                <a16:creationId xmlns:a16="http://schemas.microsoft.com/office/drawing/2014/main" id="{E0DD1252-3975-496A-BDAE-EF5A985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3752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5" name="member-value">
            <a:extLst xmlns:a="http://schemas.openxmlformats.org/drawingml/2006/main">
              <a:ext uri="{FF2B5EF4-FFF2-40B4-BE49-F238E27FC236}">
                <a16:creationId xmlns:a16="http://schemas.microsoft.com/office/drawing/2014/main" id="{1C4A5ADE-EFDE-43E3-86CB-C5CDF11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3295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演示价值
成员无需反复维护模板版本</a:t>
            </a:r>
          </a:p>
        </p:txBody>
      </p:sp>
      <p:sp>
        <p:nvSpPr>
          <p:cNvPr id="6" name="member-image-backing">
            <a:extLst xmlns:a="http://schemas.openxmlformats.org/drawingml/2006/main">
              <a:ext uri="{FF2B5EF4-FFF2-40B4-BE49-F238E27FC236}">
                <a16:creationId xmlns:a16="http://schemas.microsoft.com/office/drawing/2014/main" id="{0565B353-699A-4936-AC51-CA8BC15F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28750"/>
            <a:ext cx="7239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member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3c882d82447f3"/>
          <a:stretch xmlns:a="http://schemas.openxmlformats.org/drawingml/2006/main"/>
        </p:blipFill>
        <p:spPr>
          <a:xfrm xmlns:a="http://schemas.openxmlformats.org/drawingml/2006/main">
            <a:off x="5767001" y="1581150"/>
            <a:ext cx="4810897" cy="4171950"/>
          </a:xfrm>
          <a:prstGeom xmlns:a="http://schemas.openxmlformats.org/drawingml/2006/main" prst="roundRect">
            <a:avLst/>
          </a:prstGeom>
        </p:spPr>
      </p:pic>
      <p:sp>
        <p:nvSpPr>
          <p:cNvPr id="8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B7CCFD1-D6D0-4583-8916-8F7B05A2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7394352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8A43C-AA48-40FE-B762-52DD3B32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负责人汇总：提交状态一眼可见，Excel 一键输出</a:t>
            </a:r>
          </a:p>
        </p:txBody>
      </p:sp>
      <p:sp>
        <p:nvSpPr>
          <p:cNvPr id="2" name="leader-image-backing">
            <a:extLst xmlns:a="http://schemas.openxmlformats.org/drawingml/2006/main">
              <a:ext uri="{FF2B5EF4-FFF2-40B4-BE49-F238E27FC236}">
                <a16:creationId xmlns:a16="http://schemas.microsoft.com/office/drawing/2014/main" id="{104A614A-4041-4534-AE6D-075D020B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239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leader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332bee5846f7"/>
          <a:srcRect xmlns:a="http://schemas.openxmlformats.org/drawingml/2006/main" l="0" t="3552" r="0" b="3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57350"/>
            <a:ext cx="6934200" cy="4171950"/>
          </a:xfrm>
          <a:prstGeom xmlns:a="http://schemas.openxmlformats.org/drawingml/2006/main" prst="roundRect">
            <a:avLst/>
          </a:prstGeom>
        </p:spPr>
      </p:pic>
      <p:sp>
        <p:nvSpPr>
          <p:cNvPr id="4" name="leader-side-title">
            <a:extLst xmlns:a="http://schemas.openxmlformats.org/drawingml/2006/main">
              <a:ext uri="{FF2B5EF4-FFF2-40B4-BE49-F238E27FC236}">
                <a16:creationId xmlns:a16="http://schemas.microsoft.com/office/drawing/2014/main" id="{22C20969-76F7-493D-BCEE-F0E5B1E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28775"/>
            <a:ext cx="333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管理动作集中到一个页面</a:t>
            </a:r>
          </a:p>
        </p:txBody>
      </p:sp>
      <p:sp>
        <p:nvSpPr>
          <p:cNvPr id="5" name="leader-actions">
            <a:extLst xmlns:a="http://schemas.openxmlformats.org/drawingml/2006/main">
              <a:ext uri="{FF2B5EF4-FFF2-40B4-BE49-F238E27FC236}">
                <a16:creationId xmlns:a16="http://schemas.microsoft.com/office/drawing/2014/main" id="{B4BEC9EF-D0F0-480C-9604-BFCC250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3337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① 查看当前成员名单
② 识别已提交 / 未提交
③ 兼容上传历史 Excel
④ 导出标准汇总文件</a:t>
            </a:r>
          </a:p>
        </p:txBody>
      </p:sp>
      <p:sp>
        <p:nvSpPr>
          <p:cNvPr id="6" name="leader-callout">
            <a:extLst xmlns:a="http://schemas.openxmlformats.org/drawingml/2006/main">
              <a:ext uri="{FF2B5EF4-FFF2-40B4-BE49-F238E27FC236}">
                <a16:creationId xmlns:a16="http://schemas.microsoft.com/office/drawing/2014/main" id="{7A1EAAF7-0C65-4048-AA25-052029E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387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FF3E4"/>
          </a:solidFill>
        </p:spPr>
      </p:sp>
      <p:sp>
        <p:nvSpPr>
          <p:cNvPr id="7" name="leader-result">
            <a:extLst xmlns:a="http://schemas.openxmlformats.org/drawingml/2006/main">
              <a:ext uri="{FF2B5EF4-FFF2-40B4-BE49-F238E27FC236}">
                <a16:creationId xmlns:a16="http://schemas.microsoft.com/office/drawing/2014/main" id="{C013839C-0238-483A-B78F-0E8325B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876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8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
催收依据更清楚，归档口径更一致</a:t>
            </a:r>
          </a:p>
        </p:txBody>
      </p:sp>
      <p:sp>
        <p:nvSpPr>
          <p:cNvPr id="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05C9D602-FC94-4379-8349-9F83DB1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1478536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5CF8AA-5DFF-4BCD-8B6D-588B739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当前边界清晰，正式上线所需改造已经可拆解</a:t>
            </a:r>
          </a:p>
        </p:txBody>
      </p:sp>
      <p:sp>
        <p:nvSpPr>
          <p:cNvPr id="2" name="validated-title">
            <a:extLst xmlns:a="http://schemas.openxmlformats.org/drawingml/2006/main">
              <a:ext uri="{FF2B5EF4-FFF2-40B4-BE49-F238E27FC236}">
                <a16:creationId xmlns:a16="http://schemas.microsoft.com/office/drawing/2014/main" id="{C2DFC4E0-20C1-489A-89AB-1F875F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已验证｜产品流程</a:t>
            </a:r>
          </a:p>
        </p:txBody>
      </p:sp>
      <p:sp>
        <p:nvSpPr>
          <p:cNvPr id="3" name="validated-list">
            <a:extLst xmlns:a="http://schemas.openxmlformats.org/drawingml/2006/main">
              <a:ext uri="{FF2B5EF4-FFF2-40B4-BE49-F238E27FC236}">
                <a16:creationId xmlns:a16="http://schemas.microsoft.com/office/drawing/2014/main" id="{1B5C1FB2-77F9-4CF2-9944-EC4AC00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476250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登录与角色区分
周报草稿与覆盖提交
负责人名单与提交状态
个人及汇总 Excel 导出
PWA 安装与多端打开</a:t>
            </a:r>
          </a:p>
        </p:txBody>
      </p:sp>
      <p:cxnSp>
        <p:nvCxnSpPr>
          <p:cNvPr id="13" name="boundary-divider"/>
          <p:cNvCxnSpPr/>
          <p:nvPr/>
        </p:nvCxnSpPr>
        <p:spPr>
          <a:xfrm xmlns:a="http://schemas.openxmlformats.org/drawingml/2006/main">
            <a:off x="5981700" y="1600200"/>
            <a:ext cx="286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production-title">
            <a:extLst xmlns:a="http://schemas.openxmlformats.org/drawingml/2006/main">
              <a:ext uri="{FF2B5EF4-FFF2-40B4-BE49-F238E27FC236}">
                <a16:creationId xmlns:a16="http://schemas.microsoft.com/office/drawing/2014/main" id="{1B0D80AF-26F1-4CC5-8407-EBAE226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待补齐｜生产能力</a:t>
            </a:r>
          </a:p>
        </p:txBody>
      </p:sp>
      <p:sp>
        <p:nvSpPr>
          <p:cNvPr id="6" name="production-list">
            <a:extLst xmlns:a="http://schemas.openxmlformats.org/drawingml/2006/main">
              <a:ext uri="{FF2B5EF4-FFF2-40B4-BE49-F238E27FC236}">
                <a16:creationId xmlns:a16="http://schemas.microsoft.com/office/drawing/2014/main" id="{8D89FF18-A74D-4AEB-9234-BD24366E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76250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共享云端 API 与数据库
跨设备同步与冲突处理
服务端身份认证与密码安全
访问日志、备份与恢复
权限与数据托管边界</a:t>
            </a:r>
          </a:p>
        </p:txBody>
      </p:sp>
      <p:sp>
        <p:nvSpPr>
          <p:cNvPr id="7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8122BE6F-2ED3-414D-9EAD-2FE560A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1101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5EC31E94-5AFA-4F0D-BC21-F8188C09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结论：无需重做前端流程，下一阶段聚焦数据层、认证和运行保障。</a:t>
            </a:r>
          </a:p>
        </p:txBody>
      </p:sp>
      <p:sp>
        <p:nvSpPr>
          <p:cNvPr id="9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2BDD1D2-65A9-4FE6-9422-06EE1F31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1354611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28FC3A-C66C-4A2C-ACB0-228A5BC0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建议用五步小范围试点，把技术风险转成可验收结果</a:t>
            </a:r>
          </a:p>
        </p:txBody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C872F721-694D-4A4D-98EC-03AEA0C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graphicFrame>
        <p:nvGraphicFramePr>
          <p:cNvPr id="21" name="roadmap-header"/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11382375" cy="55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276475"/>
                <a:gridCol w="2276475"/>
                <a:gridCol w="2276475"/>
                <a:gridCol w="2276475"/>
              </a:tblGrid>
              <a:tr h="552450">
                <a:tc>
                  <a:txBody>
                    <a:bodyPr/>
                    <a:lstStyle/>
                    <a:p>
                      <a:r>
                        <a:t>确认范围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云端改造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内部验证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小范围试点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复盘决策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roadmap-col-1">
            <a:extLst xmlns:a="http://schemas.openxmlformats.org/drawingml/2006/main">
              <a:ext uri="{FF2B5EF4-FFF2-40B4-BE49-F238E27FC236}">
                <a16:creationId xmlns:a16="http://schemas.microsoft.com/office/drawing/2014/main" id="{94A19F77-3A29-4572-94B1-8046B88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90725"/>
            <a:ext cx="2276475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" name="roadmap-col-2">
            <a:extLst xmlns:a="http://schemas.openxmlformats.org/drawingml/2006/main">
              <a:ext uri="{FF2B5EF4-FFF2-40B4-BE49-F238E27FC236}">
                <a16:creationId xmlns:a16="http://schemas.microsoft.com/office/drawing/2014/main" id="{CAA8454A-D6C0-4C15-BCA9-36823BA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90725"/>
            <a:ext cx="2276475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" name="roadmap-col-3">
            <a:extLst xmlns:a="http://schemas.openxmlformats.org/drawingml/2006/main">
              <a:ext uri="{FF2B5EF4-FFF2-40B4-BE49-F238E27FC236}">
                <a16:creationId xmlns:a16="http://schemas.microsoft.com/office/drawing/2014/main" id="{3750099D-A2C6-41A3-BE12-F2522519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90725"/>
            <a:ext cx="2276475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" name="roadmap-col-4">
            <a:extLst xmlns:a="http://schemas.openxmlformats.org/drawingml/2006/main">
              <a:ext uri="{FF2B5EF4-FFF2-40B4-BE49-F238E27FC236}">
                <a16:creationId xmlns:a16="http://schemas.microsoft.com/office/drawing/2014/main" id="{F7CAF367-0D88-4AEB-8CBC-287442E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90725"/>
            <a:ext cx="2276475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8" name="roadmap-col-5">
            <a:extLst xmlns:a="http://schemas.openxmlformats.org/drawingml/2006/main">
              <a:ext uri="{FF2B5EF4-FFF2-40B4-BE49-F238E27FC236}">
                <a16:creationId xmlns:a16="http://schemas.microsoft.com/office/drawing/2014/main" id="{EB521973-CAD4-40E6-B8FE-86A27AC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90725"/>
            <a:ext cx="2276475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roadmap-bar-1">
            <a:extLst xmlns:a="http://schemas.openxmlformats.org/drawingml/2006/main">
              <a:ext uri="{FF2B5EF4-FFF2-40B4-BE49-F238E27FC236}">
                <a16:creationId xmlns:a16="http://schemas.microsoft.com/office/drawing/2014/main" id="{02A95112-6918-4695-9D36-91B7CA2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81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10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81CABE5A-3595-4942-83E4-92DA5F2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46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试点人员与数据范围</a:t>
            </a:r>
          </a:p>
        </p:txBody>
      </p:sp>
      <p:sp>
        <p:nvSpPr>
          <p:cNvPr id="11" name="roadmap-bar-2">
            <a:extLst xmlns:a="http://schemas.openxmlformats.org/drawingml/2006/main">
              <a:ext uri="{FF2B5EF4-FFF2-40B4-BE49-F238E27FC236}">
                <a16:creationId xmlns:a16="http://schemas.microsoft.com/office/drawing/2014/main" id="{F95D8B2D-5DB3-4A77-A310-4BFF3DC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99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12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F70F02AD-E9BB-4D6B-8318-4E6CFDBD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375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API、数据库与服务端认证</a:t>
            </a:r>
          </a:p>
        </p:txBody>
      </p:sp>
      <p:sp>
        <p:nvSpPr>
          <p:cNvPr id="13" name="roadmap-bar-3">
            <a:extLst xmlns:a="http://schemas.openxmlformats.org/drawingml/2006/main">
              <a:ext uri="{FF2B5EF4-FFF2-40B4-BE49-F238E27FC236}">
                <a16:creationId xmlns:a16="http://schemas.microsoft.com/office/drawing/2014/main" id="{5E8B28AC-7670-40B7-BFF7-0832206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428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14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98ED6FFB-F576-4546-BF1E-D06F1BF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0950"/>
            <a:ext cx="394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同步、权限、备份与恢复验证</a:t>
            </a:r>
          </a:p>
        </p:txBody>
      </p:sp>
      <p:sp>
        <p:nvSpPr>
          <p:cNvPr id="15" name="roadmap-bar-4">
            <a:extLst xmlns:a="http://schemas.openxmlformats.org/drawingml/2006/main">
              <a:ext uri="{FF2B5EF4-FFF2-40B4-BE49-F238E27FC236}">
                <a16:creationId xmlns:a16="http://schemas.microsoft.com/office/drawing/2014/main" id="{64470325-FF8A-425D-9C1F-C14FBEB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4324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16" name="roadmap-label-4">
            <a:extLst xmlns:a="http://schemas.openxmlformats.org/drawingml/2006/main">
              <a:ext uri="{FF2B5EF4-FFF2-40B4-BE49-F238E27FC236}">
                <a16:creationId xmlns:a16="http://schemas.microsoft.com/office/drawing/2014/main" id="{57EFB3E0-CF36-4EAA-A89D-FC765E4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98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真实周报运行与问题收敛</a:t>
            </a:r>
          </a:p>
        </p:txBody>
      </p:sp>
      <p:sp>
        <p:nvSpPr>
          <p:cNvPr id="17" name="roadmap-bar-5">
            <a:extLst xmlns:a="http://schemas.openxmlformats.org/drawingml/2006/main">
              <a:ext uri="{FF2B5EF4-FFF2-40B4-BE49-F238E27FC236}">
                <a16:creationId xmlns:a16="http://schemas.microsoft.com/office/drawing/2014/main" id="{0291B1E8-4C6C-415F-A196-499D93B0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2076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3E4"/>
          </a:solidFill>
        </p:spPr>
      </p:sp>
      <p:sp>
        <p:nvSpPr>
          <p:cNvPr id="18" name="roadmap-label-5">
            <a:extLst xmlns:a="http://schemas.openxmlformats.org/drawingml/2006/main">
              <a:ext uri="{FF2B5EF4-FFF2-40B4-BE49-F238E27FC236}">
                <a16:creationId xmlns:a16="http://schemas.microsoft.com/office/drawing/2014/main" id="{95DCC96C-2C98-4C11-850E-FCE58BB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6255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002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按指标评估是否扩围</a:t>
            </a:r>
          </a:p>
        </p:txBody>
      </p:sp>
    </p:spTree>
    <p:extLst>
      <p:ext uri="{BB962C8B-B14F-4D97-AF65-F5344CB8AC3E}">
        <p14:creationId xmlns:p14="http://schemas.microsoft.com/office/powerpoint/2010/main" val="771684977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BED722CD-FFA9-4D9A-A666-7637B28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决策建议</a:t>
            </a:r>
          </a:p>
        </p:txBody>
      </p:sp>
      <p:sp>
        <p:nvSpPr>
          <p:cNvPr id="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64BEBD3C-7E26-47A4-A550-E69D5CC7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8667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批准云端
小范围试点</a:t>
            </a:r>
          </a:p>
        </p:txBody>
      </p:sp>
      <p:sp>
        <p:nvSpPr>
          <p:cNvPr id="3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8E0C7923-AAA4-47F6-8821-137D4A2F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F943186A-B5D8-4498-98A6-A4C3E072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57775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需要确认三件事</a:t>
            </a:r>
          </a:p>
        </p:txBody>
      </p:sp>
      <p:sp>
        <p:nvSpPr>
          <p:cNvPr id="5" name="decision-asks">
            <a:extLst xmlns:a="http://schemas.openxmlformats.org/drawingml/2006/main">
              <a:ext uri="{FF2B5EF4-FFF2-40B4-BE49-F238E27FC236}">
                <a16:creationId xmlns:a16="http://schemas.microsoft.com/office/drawing/2014/main" id="{2E2C7969-EAEB-404A-978C-F69ED78B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57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① 试点人员与周期    ② 数据托管与安全要求    ③ 通过 / 扩围的验收指标</a:t>
            </a:r>
          </a:p>
        </p:txBody>
      </p:sp>
      <p:sp>
        <p:nvSpPr>
          <p:cNvPr id="6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3E64782A-C696-4A17-8BDE-C8210831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3719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2026-07-12T12:26:21.4840000Z</dcterms:created>
  <dcterms:modified xsi:type="dcterms:W3CDTF">2026-07-12T12:26:21.4840000Z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2026-07-13T02:30:58Z</vt:lpwstr>
  </op:property>
</op:Properties>
</file>